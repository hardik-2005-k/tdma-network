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 is the mandatory scheduler and Part 2 is the EMANE integration. Tags on each slide mean: [run] observed on this machine, [from docs, not run] reasoning or documentation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Restates the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transmitters conflict when they are neighbours or share a neighbour. That is G squared. A proper colouring of G squared is a collision-free schedule and each colour is one slot.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Minimum slots is the chromatic number, which is NP-hard, so the solver brackets the answer with bounds. On the sample the heuristic already met the lower bound, so the exact search was not needed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 of python tdma_scheduler.py --demo. Proven optimal for this layout only. The brief shows a 5-slot sample with unknown coordinates, so 5 and 9 cannot be compared.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bridge turns the matrix into an EMANE schedule event and a pathloss file. Each radio runs in its own network namespace in the emulation.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Slot length and overhead come from the brief and the EMANE guide. Power is unresolved: the XML sets 20 dBm but the PHY log showed 0 dBm. The SNR figures are computed, not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control is expected to fail. A passing part1 only means something next to controls that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are from the saved earlier run in results/. They were not re-run in the final verification. distance1 clean-link delivery is close to part1, so the SINR counter is the main evidence of collisions.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 about what was measured and what was reasoned.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work, none of it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48840"/>
            <a:ext cx="1463040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TDMA Schedule Optimizer
and EMANE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C9D3E0"/>
                </a:solidFill>
                <a:latin typeface="Calibri"/>
              </a:rPr>
              <a:t>Distance-2 graph colouring for collision-free slot planning, enforced in an EMANE emulation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C9D3E0"/>
                </a:solidFill>
                <a:latin typeface="Calibri"/>
              </a:rPr>
              <a:t>Hardik Katariya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C9D3E0"/>
                </a:solidFill>
                <a:latin typeface="Calibri"/>
              </a:rPr>
              <a:t>Vaan Megam Networks internship task  |  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875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A44"/>
                </a:solidFill>
                <a:latin typeface="Calibr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TDMA Schedule Optimizer and EMANE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54135" y="384048"/>
            <a:ext cx="2788920" cy="329184"/>
          </a:xfrm>
          <a:prstGeom prst="roundRect">
            <a:avLst>
              <a:gd name="adj" fmla="val 6000"/>
            </a:avLst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[from docs, not run]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583680" cy="4389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900"/>
              </a:spcAft>
            </a:pPr>
            <a:r>
              <a:rPr sz="2200">
                <a:solidFill>
                  <a:srgbClr val="1F2A44"/>
                </a:solidFill>
                <a:latin typeface="Calibri"/>
              </a:rPr>
              <a:t>•  16 radios, one frequency, taking turns in fixed time slots.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1F2A44"/>
                </a:solidFill>
                <a:latin typeface="Calibri"/>
              </a:rPr>
              <a:t>•  Close radios interfere, far radios can reuse the same slot.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1F2A44"/>
                </a:solidFill>
                <a:latin typeface="Calibri"/>
              </a:rPr>
              <a:t>•  Goal: assign a slot per radio with no receiver collisions, using as few slots as possible.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1F2A44"/>
                </a:solidFill>
                <a:latin typeface="Calibri"/>
              </a:rPr>
              <a:t>•  Two collision cases: direct link (distance 1) and hidden terminal (distance 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63040"/>
            <a:ext cx="4114800" cy="19202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463040"/>
            <a:ext cx="82296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572768"/>
            <a:ext cx="37490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Calibri"/>
              </a:rPr>
              <a:t>Direct link (distance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084832"/>
            <a:ext cx="374903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A44"/>
                </a:solidFill>
                <a:latin typeface="Calibri"/>
              </a:rPr>
              <a:t>A and B are neighbours. They must use different slots.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11880"/>
            <a:ext cx="4114800" cy="2103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3611880"/>
            <a:ext cx="82296" cy="2103120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3721608"/>
            <a:ext cx="374903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B86E00"/>
                </a:solidFill>
                <a:latin typeface="Calibri"/>
              </a:rPr>
              <a:t>Hidden terminal (distance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4233672"/>
            <a:ext cx="3749039" cy="13715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A44"/>
                </a:solidFill>
                <a:latin typeface="Calibri"/>
              </a:rPr>
              <a:t>A and C cannot hear each other but both reach B. They collide at B, so they need different slots.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875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A44"/>
                </a:solidFill>
                <a:latin typeface="Calibri"/>
              </a:rPr>
              <a:t>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TDMA Schedule Optimizer and EMANE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54135" y="384048"/>
            <a:ext cx="2788920" cy="329184"/>
          </a:xfrm>
          <a:prstGeom prst="roundRect">
            <a:avLst>
              <a:gd name="adj" fmla="val 6000"/>
            </a:avLst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[from docs, not run]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5577840" cy="45262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Hidden terminal: A and C are 2 hops apart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2926080"/>
            <a:ext cx="1965960" cy="0"/>
          </a:xfrm>
          <a:prstGeom prst="line">
            <a:avLst/>
          </a:prstGeom>
          <a:ln w="38100">
            <a:solidFill>
              <a:srgbClr val="5B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83280" y="2926080"/>
            <a:ext cx="1965960" cy="0"/>
          </a:xfrm>
          <a:prstGeom prst="line">
            <a:avLst/>
          </a:prstGeom>
          <a:ln w="38100">
            <a:solidFill>
              <a:srgbClr val="5B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96112" y="2542032"/>
            <a:ext cx="768096" cy="768096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Oval 11"/>
          <p:cNvSpPr/>
          <p:nvPr/>
        </p:nvSpPr>
        <p:spPr>
          <a:xfrm>
            <a:off x="2999232" y="2542032"/>
            <a:ext cx="768096" cy="7680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Oval 12"/>
          <p:cNvSpPr/>
          <p:nvPr/>
        </p:nvSpPr>
        <p:spPr>
          <a:xfrm>
            <a:off x="5102352" y="2542032"/>
            <a:ext cx="768096" cy="768096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80160" y="3931920"/>
            <a:ext cx="4206240" cy="0"/>
          </a:xfrm>
          <a:prstGeom prst="line">
            <a:avLst/>
          </a:prstGeom>
          <a:ln w="38100">
            <a:solidFill>
              <a:srgbClr val="B86E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4069080"/>
            <a:ext cx="52120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G squared joins A and C with an edge, so they get different colours.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52120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Nodes more than 2 hops apart have no edge, so they may share a colour.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371600"/>
            <a:ext cx="5212080" cy="45262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1F2A44"/>
                </a:solidFill>
                <a:latin typeface="Calibri"/>
              </a:rPr>
              <a:t>•  Model radios as a unit-disk graph G: edge when within 500 m.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F2A44"/>
                </a:solidFill>
                <a:latin typeface="Calibri"/>
              </a:rPr>
              <a:t>•  Collision-free schedule = proper colouring of the distance-2 conflict graph G squared.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F2A44"/>
                </a:solidFill>
                <a:latin typeface="Calibri"/>
              </a:rPr>
              <a:t>•  Each colour is one slot. Non-adjacent nodes reuse slots, which is spatial reuse.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F2A44"/>
                </a:solidFill>
                <a:latin typeface="Calibri"/>
              </a:rPr>
              <a:t>•  Centralized Python brain plans it, EMANE enforces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875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A44"/>
                </a:solidFill>
                <a:latin typeface="Calibri"/>
              </a:rPr>
              <a:t>The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TDMA Schedule Optimizer and EMANE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Minimum slots = chromatic number of G squared, which is NP-hard.  [from docs, not run]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  <a:latin typeface="Calibri"/>
              </a:rPr>
              <a:t>Three layers in the code  [run]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82296" cy="2377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95728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Calibri"/>
              </a:rPr>
              <a:t>1  Upper bound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324612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A44"/>
                </a:solidFill>
                <a:latin typeface="Calibri"/>
              </a:rPr>
              <a:t>Five NetworkX greedy strategies plus 300 randomized DSATUR restarts.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28600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286000"/>
            <a:ext cx="82296" cy="2377440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395728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B86E00"/>
                </a:solidFill>
                <a:latin typeface="Calibri"/>
              </a:rPr>
              <a:t>2  Lower bound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907792"/>
            <a:ext cx="324612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A44"/>
                </a:solidFill>
                <a:latin typeface="Calibri"/>
              </a:rPr>
              <a:t>Max clique in G squared. Every node in a clique needs its own slot.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28600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286000"/>
            <a:ext cx="82296" cy="2377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395728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F2A44"/>
                </a:solidFill>
                <a:latin typeface="Calibri"/>
              </a:rPr>
              <a:t>3  Exact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907792"/>
            <a:ext cx="324612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colour_with_k tries one slot fewer. On the sample the heuristic already met the lower bound, so it was not needed there.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93776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F2A44"/>
                </a:solidFill>
                <a:latin typeface="Calibri"/>
              </a:rPr>
              <a:t>Report a lower bound, an upper bound and "optimal" only when they meet.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875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A44"/>
                </a:solidFill>
                <a:latin typeface="Calibri"/>
              </a:rPr>
              <a:t>Part 1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TDMA Schedule Optimizer and EMANE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37215" y="384048"/>
            <a:ext cx="1005840" cy="329184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[run]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80160"/>
          <a:ext cx="1096730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602589"/>
                <a:gridCol w="602589"/>
                <a:gridCol w="602589"/>
                <a:gridCol w="602589"/>
                <a:gridCol w="602589"/>
                <a:gridCol w="602589"/>
                <a:gridCol w="602589"/>
                <a:gridCol w="602589"/>
                <a:gridCol w="602589"/>
                <a:gridCol w="602589"/>
                <a:gridCol w="602589"/>
                <a:gridCol w="602589"/>
                <a:gridCol w="602589"/>
                <a:gridCol w="602589"/>
                <a:gridCol w="602589"/>
                <a:gridCol w="60258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Slot \ Node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08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09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Slot 00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Slot 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Slot 02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Slot 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Slot 04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Slot 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Slot 06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Slot 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Slot 08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8288" marR="18288" marT="45720" marB="45720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44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marL="18288" marR="18288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44805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B677A"/>
                </a:solidFill>
                <a:latin typeface="Calibri"/>
              </a:rPr>
              <a:t>Node to slot  (node:slot)   01:0   02:1   03:2   04:0   05:3   06:4   07:5   08:3   09:6   10:7   11:8   12:6   13:0   14:1   15:2   16:0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92040"/>
            <a:ext cx="5669280" cy="1463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16 nodes, 42 links, 500 m range.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9-slot frame, lower bound 9, proven optimal for this layout only.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Reuse factor about 1.78 nodes per slot.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92040"/>
            <a:ext cx="5212080" cy="1463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The brief's 5-slot sample uses unknown coordinates, so 5 and 9 are not comparable. Frame length depends on the layout.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16 unit tests pass.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875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A44"/>
                </a:solidFill>
                <a:latin typeface="Calibri"/>
              </a:rPr>
              <a:t>EMANE integration, the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TDMA Schedule Optimizer and EMANE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37215" y="384048"/>
            <a:ext cx="1005840" cy="329184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[run]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1920240" cy="15544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8288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schedule.json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F2A44"/>
                </a:solidFill>
                <a:latin typeface="Calibri"/>
              </a:rPr>
              <a:t>Part 1 output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32888" y="2057400"/>
            <a:ext cx="256032" cy="320040"/>
          </a:xfrm>
          <a:prstGeom prst="rightArrow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1463040"/>
            <a:ext cx="1920240" cy="1554480"/>
          </a:xfrm>
          <a:prstGeom prst="roundRect">
            <a:avLst>
              <a:gd name="adj" fmla="val 6000"/>
            </a:avLst>
          </a:prstGeom>
          <a:solidFill>
            <a:srgbClr val="E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39" y="1554480"/>
            <a:ext cx="18288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emane_bridge.py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331720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F2A44"/>
                </a:solidFill>
                <a:latin typeface="Calibri"/>
              </a:rPr>
              <a:t>converts matrix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27448" y="2057400"/>
            <a:ext cx="256032" cy="320040"/>
          </a:xfrm>
          <a:prstGeom prst="rightArrow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83479" y="1463040"/>
            <a:ext cx="1920240" cy="15544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199" y="1554480"/>
            <a:ext cx="18288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schedule XML
+ pathloss.eel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199" y="2331720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F2A44"/>
                </a:solidFill>
                <a:latin typeface="Calibri"/>
              </a:rPr>
              <a:t>validated against the schema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22007" y="2057400"/>
            <a:ext cx="256032" cy="320040"/>
          </a:xfrm>
          <a:prstGeom prst="rightArrow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78040" y="1463040"/>
            <a:ext cx="1920240" cy="1554480"/>
          </a:xfrm>
          <a:prstGeom prst="roundRect">
            <a:avLst>
              <a:gd name="adj" fmla="val 6000"/>
            </a:avLst>
          </a:prstGeom>
          <a:solidFill>
            <a:srgbClr val="E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1554480"/>
            <a:ext cx="18288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EMANE 1.5.3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2331720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F2A44"/>
                </a:solidFill>
                <a:latin typeface="Calibri"/>
              </a:rPr>
              <a:t>16 radios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116567" y="2057400"/>
            <a:ext cx="256032" cy="320040"/>
          </a:xfrm>
          <a:prstGeom prst="rightArrow">
            <a:avLst/>
          </a:prstGeom>
          <a:solidFill>
            <a:srgbClr val="5B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72600" y="1463040"/>
            <a:ext cx="1920240" cy="15544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554480"/>
            <a:ext cx="18288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traffic + 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331720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F2A44"/>
                </a:solidFill>
                <a:latin typeface="Calibri"/>
              </a:rPr>
              <a:t>measure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474720"/>
            <a:ext cx="1097280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1F2A44"/>
                </a:solidFill>
                <a:latin typeface="Calibri"/>
              </a:rPr>
              <a:t>•  emane_bridge.py converts the Part 1 matrix into an EMANE TDMA schedule event (XML) and a pathloss topology (pathloss.eel).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F2A44"/>
                </a:solidFill>
                <a:latin typeface="Calibri"/>
              </a:rPr>
              <a:t>•  Schedule XML validates against EMANE's tdmaschedule.xsd and round-trips back to the exact matrix.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1F2A44"/>
                </a:solidFill>
                <a:latin typeface="Calibri"/>
              </a:rPr>
              <a:t>•  Node_NN name maps to NEM id NN.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875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A44"/>
                </a:solidFill>
                <a:latin typeface="Calibri"/>
              </a:rPr>
              <a:t>Radio values and 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TDMA Schedule Optimizer and EMANE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82296" cy="8686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99032"/>
            <a:ext cx="78638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A44"/>
                </a:solidFill>
                <a:latin typeface="Calibri"/>
              </a:rPr>
              <a:t>1 ms slots, 10 microsecond overhead (covers 500 m flight time).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399032"/>
            <a:ext cx="26974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B86E00"/>
                </a:solidFill>
                <a:latin typeface="Calibri"/>
              </a:rPr>
              <a:t>[from docs, not run]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04288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04288"/>
            <a:ext cx="82296" cy="8686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78638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A44"/>
                </a:solidFill>
                <a:latin typeface="Calibri"/>
              </a:rPr>
              <a:t>2.4 GHz, 10 MHz bandwidth, 9 Mbps. Noise floor -100 dBm is computed.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82696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282696"/>
            <a:ext cx="82296" cy="8686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55848"/>
            <a:ext cx="78638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A44"/>
                </a:solidFill>
                <a:latin typeface="Calibri"/>
              </a:rPr>
              <a:t>Power: the schedule XML sets 20 dBm but the PHY log showed 0 dBm. The applied power is unresolved.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355848"/>
            <a:ext cx="26974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[run] for the 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261104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261104"/>
            <a:ext cx="82296" cy="8686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34256"/>
            <a:ext cx="78638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A44"/>
                </a:solidFill>
                <a:latin typeface="Calibri"/>
              </a:rPr>
              <a:t>Computed SNR for a clean link: 26 dB at 20 dBm, 6 dB at 0 dBm. Both give 100 percent on the 9 Mbps curve.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334256"/>
            <a:ext cx="26974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5B677A"/>
                </a:solidFill>
                <a:latin typeface="Calibri"/>
              </a:rPr>
              <a:t>Computed, not measured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239512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5239512"/>
            <a:ext cx="82296" cy="8686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12664"/>
            <a:ext cx="78638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A44"/>
                </a:solidFill>
                <a:latin typeface="Calibri"/>
              </a:rPr>
              <a:t>The 500 m range is enforced by the 200 dB pathloss for out-of-range pairs, not by a receiver sensitivity setting.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312664"/>
            <a:ext cx="26974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[run] for the EEL contents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875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A44"/>
                </a:solidFill>
                <a:latin typeface="Calibri"/>
              </a:rPr>
              <a:t>Experiments and the three variants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TDMA Schedule Optimizer and EMANE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82296" cy="24688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2E7D32"/>
                </a:solidFill>
                <a:latin typeface="Calibri"/>
              </a:rPr>
              <a:t>part1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2461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F2A44"/>
                </a:solidFill>
                <a:latin typeface="Calibri"/>
              </a:rPr>
              <a:t>The real schedule, expected to deliver with no collisions.  [from docs, not run]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82296" cy="2468880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81328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B86E00"/>
                </a:solidFill>
                <a:latin typeface="Calibri"/>
              </a:rPr>
              <a:t>distance1 (control)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93392"/>
            <a:ext cx="32461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F2A44"/>
                </a:solidFill>
                <a:latin typeface="Calibri"/>
              </a:rPr>
              <a:t>1-hop only, should bring back hidden-terminal loss.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7160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371600"/>
            <a:ext cx="82296" cy="2468880"/>
          </a:xfrm>
          <a:prstGeom prst="rect">
            <a:avLst/>
          </a:prstGeom>
          <a:solidFill>
            <a:srgbClr val="B4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81328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B42B2B"/>
                </a:solidFill>
                <a:latin typeface="Calibri"/>
              </a:rPr>
              <a:t>allslot0 (control)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93392"/>
            <a:ext cx="32461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F2A44"/>
                </a:solidFill>
                <a:latin typeface="Calibri"/>
              </a:rPr>
              <a:t>Everyone in slot 0, receivers should hear nothing.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114800"/>
            <a:ext cx="11018520" cy="173736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062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2E7D32"/>
                </a:solidFill>
                <a:latin typeface="Calibri"/>
              </a:rPr>
              <a:t>Metrics  [run]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106070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F2A44"/>
                </a:solidFill>
                <a:latin typeface="Calibri"/>
              </a:rPr>
              <a:t>Per-pair packet delivery ratio, EMANE accept and drop tables, scheduler.scheduleAcceptFull, the ScheduleInfoTable per NEM.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875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A44"/>
                </a:solidFill>
                <a:latin typeface="Calibri"/>
              </a:rPr>
              <a:t>Live run results (EMANE v1.5.3, saved run)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TDMA Schedule Optimizer and EMANE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37215" y="384048"/>
            <a:ext cx="1005840" cy="329184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[run]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80160"/>
          <a:ext cx="10972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2560320"/>
                <a:gridCol w="2743200"/>
                <a:gridCol w="2743200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Slots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Clean-link delivery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Blocked-pair delivery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SINR drop counter</a:t>
                      </a:r>
                    </a:p>
                  </a:txBody>
                  <a:tcPr marL="91440" marR="91440" marT="45720" marB="45720" anchor="ctr">
                    <a:solidFill>
                      <a:srgbClr val="1F2A4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A44"/>
                          </a:solidFill>
                          <a:latin typeface="Calibri"/>
                        </a:rPr>
                        <a:t>part1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99.5 %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none exist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 bytes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A44"/>
                          </a:solidFill>
                          <a:latin typeface="Calibri"/>
                        </a:rPr>
                        <a:t>distance1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98.4 %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0.1 % (64 pairs)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39,182,660 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A44"/>
                          </a:solidFill>
                          <a:latin typeface="Calibri"/>
                        </a:rPr>
                        <a:t>allslot0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none exist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0.0 % (84 pairs)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44"/>
                          </a:solidFill>
                          <a:latin typeface="Calibri"/>
                        </a:rPr>
                        <a:t>0 bytes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3017520"/>
            <a:ext cx="10972800" cy="3291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20 s per variant at 500 packets per second per radio. Not re-run in the final verification.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All 16 radios installed their schedules, scheduleAcceptFull = 1 everywhere.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part1: clean links delivered 99.5 percent, 240 of 240 pairs agreed with the schedule. The SINR drop counter read 0 bytes. "0 measured collisions" means that counter and nothing broader.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distance1 control: clean links delivered 98.4 percent, close to part1, so delivery alone does not separate the variants. The SINR drop counter showed 39,182,660 bytes dropped, and 64 hidden-terminal pairs delivered 0.1 percent.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allslot0 control: 0 percent delivery. This shows half-duplex blocking, not interference.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Bugs found and fixed to get here: CRLF in pathloss.eel aborting the event service, the receiver frequency mismatch (suspected cause, not isolated) and the build-essential and tee issues in the Docker build.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875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A44"/>
                </a:solidFill>
                <a:latin typeface="Calibri"/>
              </a:rPr>
              <a:t>Limitations and honesty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TDMA Schedule Optimizer and EMANE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900"/>
              </a:spcAft>
            </a:pPr>
            <a:r>
              <a:rPr sz="2200">
                <a:solidFill>
                  <a:srgbClr val="1F2A44"/>
                </a:solidFill>
                <a:latin typeface="Calibri"/>
              </a:rPr>
              <a:t>•  Minimum slots proven optimal only for this 16-node layout, not in general.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1F2A44"/>
                </a:solidFill>
                <a:latin typeface="Calibri"/>
              </a:rPr>
              <a:t>•  Unit-disk model: no fading, no partial-quality links, range is a hard cliff by design.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1F2A44"/>
                </a:solidFill>
                <a:latin typeface="Calibri"/>
              </a:rPr>
              <a:t>•  Static topology, no node movement.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1F2A44"/>
                </a:solidFill>
                <a:latin typeface="Calibri"/>
              </a:rPr>
              <a:t>•  Applied transmit power not resolved. No 499 m pair run live. The nearest out-of-range pair run live was 600 m.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1F2A44"/>
                </a:solidFill>
                <a:latin typeface="Calibri"/>
              </a:rPr>
              <a:t>•  Clearly separate what was measured from what is reasoned from documentation.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8755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A44"/>
                </a:solidFill>
                <a:latin typeface="Calibri"/>
              </a:rPr>
              <a:t>What to do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B677A"/>
                </a:solidFill>
                <a:latin typeface="Calibri"/>
              </a:rPr>
              <a:t>TDMA Schedule Optimizer and EMANE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54135" y="384048"/>
            <a:ext cx="2788920" cy="329184"/>
          </a:xfrm>
          <a:prstGeom prst="roundRect">
            <a:avLst>
              <a:gd name="adj" fmla="val 6000"/>
            </a:avLst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[from docs, not run]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900"/>
              </a:spcAft>
            </a:pPr>
            <a:r>
              <a:rPr sz="2400">
                <a:solidFill>
                  <a:srgbClr val="1F2A44"/>
                </a:solidFill>
                <a:latin typeface="Calibri"/>
              </a:rPr>
              <a:t>•  Resolve the applied transmit power and rerun.</a:t>
            </a:r>
          </a:p>
          <a:p>
            <a:pPr>
              <a:spcAft>
                <a:spcPts val="900"/>
              </a:spcAft>
            </a:pPr>
            <a:r>
              <a:rPr sz="2400">
                <a:solidFill>
                  <a:srgbClr val="1F2A44"/>
                </a:solidFill>
                <a:latin typeface="Calibri"/>
              </a:rPr>
              <a:t>•  Measured runs across more topologies and node counts.</a:t>
            </a:r>
          </a:p>
          <a:p>
            <a:pPr>
              <a:spcAft>
                <a:spcPts val="900"/>
              </a:spcAft>
            </a:pPr>
            <a:r>
              <a:rPr sz="2400">
                <a:solidFill>
                  <a:srgbClr val="1F2A44"/>
                </a:solidFill>
                <a:latin typeface="Calibri"/>
              </a:rPr>
              <a:t>•  Mobility and a distance-based pathloss model with capture effects.</a:t>
            </a:r>
          </a:p>
          <a:p>
            <a:pPr>
              <a:spcAft>
                <a:spcPts val="900"/>
              </a:spcAft>
            </a:pPr>
            <a:r>
              <a:rPr sz="2400">
                <a:solidFill>
                  <a:srgbClr val="1F2A44"/>
                </a:solidFill>
                <a:latin typeface="Calibri"/>
              </a:rPr>
              <a:t>•  Multi-frequency schedules for more reuse.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TDMA Schedule Optimizer and EMANE Integration</dc:title>
  <dc:subject/>
  <dc:creator>Hardik Katariya</dc:creator>
  <cp:keywords/>
  <dc:description/>
  <cp:lastModifiedBy>Hardik Katariya</cp:lastModifiedBy>
  <cp:revision>1</cp:revision>
  <dcterms:created xsi:type="dcterms:W3CDTF">2013-01-27T09:14:16Z</dcterms:created>
  <dcterms:modified xsi:type="dcterms:W3CDTF">2013-01-27T09:15:58Z</dcterms:modified>
  <cp:category/>
</cp:coreProperties>
</file>